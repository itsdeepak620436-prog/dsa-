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☁️  Core AWS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9900"/>
                </a:solidFill>
              </a:rPr>
              <a:t>The Building Blocks of Cloud Computing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017520"/>
            <a:ext cx="9445752" cy="1005840"/>
          </a:xfrm>
          <a:prstGeom prst="rect">
            <a:avLst/>
          </a:prstGeom>
          <a:solidFill>
            <a:srgbClr val="25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3154680"/>
            <a:ext cx="9052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CCCC"/>
                </a:solidFill>
              </a:rPr>
              <a:t>Amazon Web Services (AWS) provides cloud services that allow businesses and developers to build, store, process, and connect applications — without managing physical infrastructure.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251960"/>
            <a:ext cx="2514600" cy="6400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43434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CE5"/>
                </a:solidFill>
              </a:rPr>
              <a:t>☁️  Compute — EC2, Lambda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4251960"/>
            <a:ext cx="2514600" cy="6400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43434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2BE"/>
                </a:solidFill>
              </a:rPr>
              <a:t>🗄️  Storage — S3, EBS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4251960"/>
            <a:ext cx="2514600" cy="6400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43434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143C"/>
                </a:solidFill>
              </a:rPr>
              <a:t>🛢️  Database — RDS, DynamoDB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4251960"/>
            <a:ext cx="2514600" cy="6400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43434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88E5"/>
                </a:solidFill>
              </a:rPr>
              <a:t>🌐  Networking — VPC, Route 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88AA"/>
                </a:solidFill>
              </a:rPr>
              <a:t>🎤 Say:  "AWS offers hundreds of cloud services, but today I will focus on eight important services from four major categories: compute, storage, database, and networking."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Compute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CCCCCC"/>
                </a:solidFill>
              </a:rPr>
              <a:t>EC2  &amp;  Lambda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94960" cy="4846320"/>
          </a:xfrm>
          <a:prstGeom prst="rect">
            <a:avLst/>
          </a:prstGeom>
          <a:solidFill>
            <a:srgbClr val="0D4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CE5"/>
                </a:solidFill>
              </a:rPr>
              <a:t>💻  Amazon EC2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Elastic Compute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73152" cy="320040"/>
          </a:xfrm>
          <a:prstGeom prst="rect">
            <a:avLst/>
          </a:prstGeom>
          <a:solidFill>
            <a:srgbClr val="00B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Provides virtual servers in the 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90088"/>
            <a:ext cx="73152" cy="320040"/>
          </a:xfrm>
          <a:prstGeom prst="rect">
            <a:avLst/>
          </a:prstGeom>
          <a:solidFill>
            <a:srgbClr val="00B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9008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Choose CPU, RAM, storage &amp; 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57016"/>
            <a:ext cx="73152" cy="320040"/>
          </a:xfrm>
          <a:prstGeom prst="rect">
            <a:avLst/>
          </a:prstGeom>
          <a:solidFill>
            <a:srgbClr val="00B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5701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Suitable for websites, apps &amp; backend servers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23944"/>
            <a:ext cx="73152" cy="320040"/>
          </a:xfrm>
          <a:prstGeom prst="rect">
            <a:avLst/>
          </a:prstGeom>
          <a:solidFill>
            <a:srgbClr val="00B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2394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Pay according to the resources you 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709160"/>
            <a:ext cx="5120640" cy="640080"/>
          </a:xfrm>
          <a:prstGeom prst="rect">
            <a:avLst/>
          </a:prstGeom>
          <a:solidFill>
            <a:srgbClr val="15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731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CE5"/>
                </a:solidFill>
              </a:rPr>
              <a:t>📌  Example: Hosting a web application on a virtual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2004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9900"/>
                </a:solidFill>
              </a:rPr>
              <a:t>VS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371600"/>
            <a:ext cx="5394960" cy="484632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508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B2CBF"/>
                </a:solidFill>
              </a:rPr>
              <a:t>⚡  AWS Lambda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Serverless Compute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2423160"/>
            <a:ext cx="73152" cy="3200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423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Runs code without managing a server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2990088"/>
            <a:ext cx="73152" cy="3200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299008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Executes code when an event occurs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3557016"/>
            <a:ext cx="73152" cy="3200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55701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Automatically scales according to demand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4123944"/>
            <a:ext cx="73152" cy="3200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12394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Pay mainly for the time your code runs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4709160"/>
            <a:ext cx="5120640" cy="640080"/>
          </a:xfrm>
          <a:prstGeom prst="rect">
            <a:avLst/>
          </a:prstGeom>
          <a:solidFill>
            <a:srgbClr val="4A1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7731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B2CBF"/>
                </a:solidFill>
              </a:rPr>
              <a:t>📌  Example: Automatically processing an uploaded image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3550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AA"/>
                </a:solidFill>
              </a:rPr>
              <a:t>🎤 Say:  "EC2 is useful when we need control over a virtual server, while Lambda is useful when we only want to run code in response to an event without managing servers."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Storage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CCCCCC"/>
                </a:solidFill>
              </a:rPr>
              <a:t>S3  &amp;  EBS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94960" cy="4572000"/>
          </a:xfrm>
          <a:prstGeom prst="rect">
            <a:avLst/>
          </a:prstGeom>
          <a:solidFill>
            <a:srgbClr val="0A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2BE"/>
                </a:solidFill>
              </a:rPr>
              <a:t>📦  Amazon S3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Simple Storage Service — Object Storage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73152" cy="32004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Stores files: images, videos, documents, backups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26080"/>
            <a:ext cx="73152" cy="32004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Highly scalable and durable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29000"/>
            <a:ext cx="73152" cy="32004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Accessible via internet or applications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60520"/>
            <a:ext cx="5120640" cy="594360"/>
          </a:xfrm>
          <a:prstGeom prst="rect">
            <a:avLst/>
          </a:prstGeom>
          <a:solidFill>
            <a:srgbClr val="15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245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2BE"/>
                </a:solidFill>
              </a:rPr>
              <a:t>📌  Example: Storing user profile pictures or website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937760"/>
            <a:ext cx="5120640" cy="640080"/>
          </a:xfrm>
          <a:prstGeom prst="rect">
            <a:avLst/>
          </a:prstGeom>
          <a:solidFill>
            <a:srgbClr val="05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017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2BE"/>
                </a:solidFill>
              </a:rPr>
              <a:t>💡  S3 = Store files / objects  (globally)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371600"/>
            <a:ext cx="5394960" cy="4572000"/>
          </a:xfrm>
          <a:prstGeom prst="rect">
            <a:avLst/>
          </a:prstGeom>
          <a:solidFill>
            <a:srgbClr val="3D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508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9900"/>
                </a:solidFill>
              </a:rPr>
              <a:t>💾  Amazon EBS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Elastic Block Store — Block Storage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2423160"/>
            <a:ext cx="73152" cy="3200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423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Provides block storage for EC2 instances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2880360"/>
            <a:ext cx="73152" cy="3200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880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Works like a virtual hard disk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337560"/>
            <a:ext cx="73152" cy="3200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337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Suitable for OS, applications &amp; databases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3794760"/>
            <a:ext cx="73152" cy="3200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794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Data persists even when EC2 is stopped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4160520"/>
            <a:ext cx="5120640" cy="594360"/>
          </a:xfrm>
          <a:prstGeom prst="rect">
            <a:avLst/>
          </a:prstGeom>
          <a:solidFill>
            <a:srgbClr val="604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2245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9900"/>
                </a:solidFill>
              </a:rPr>
              <a:t>📌  Example: Hosting OS &amp; databases on EC2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4937760"/>
            <a:ext cx="5120640" cy="640080"/>
          </a:xfrm>
          <a:prstGeom prst="rect">
            <a:avLst/>
          </a:prstGeom>
          <a:solidFill>
            <a:srgbClr val="805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50017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</a:rPr>
              <a:t>💡  EBS = Virtual hard disk for EC2  (inside VPC)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Database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CCCCCC"/>
                </a:solidFill>
              </a:rPr>
              <a:t>RDS  &amp;  DynamoDB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94960" cy="4572000"/>
          </a:xfrm>
          <a:prstGeom prst="rect">
            <a:avLst/>
          </a:prstGeom>
          <a:solidFill>
            <a:srgbClr val="3D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143C"/>
                </a:solidFill>
              </a:rPr>
              <a:t>🏛️  Amazon 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Relational Database Service — 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73152" cy="320040"/>
          </a:xfrm>
          <a:prstGeom prst="rect">
            <a:avLst/>
          </a:prstGeom>
          <a:solidFill>
            <a:srgbClr val="E8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Managed relational database 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80360"/>
            <a:ext cx="73152" cy="320040"/>
          </a:xfrm>
          <a:prstGeom prst="rect">
            <a:avLst/>
          </a:prstGeom>
          <a:solidFill>
            <a:srgbClr val="E8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Supports MySQL, PostgreSQL &amp; others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37560"/>
            <a:ext cx="73152" cy="320040"/>
          </a:xfrm>
          <a:prstGeom prst="rect">
            <a:avLst/>
          </a:prstGeom>
          <a:solidFill>
            <a:srgbClr val="E8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337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AWS handles backups &amp; maintenance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94760"/>
            <a:ext cx="73152" cy="320040"/>
          </a:xfrm>
          <a:prstGeom prst="rect">
            <a:avLst/>
          </a:prstGeom>
          <a:solidFill>
            <a:srgbClr val="E8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94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Uses tables, rows &amp; columns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43400"/>
            <a:ext cx="5120640" cy="594360"/>
          </a:xfrm>
          <a:prstGeom prst="rect">
            <a:avLst/>
          </a:prstGeom>
          <a:solidFill>
            <a:srgbClr val="60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074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143C"/>
                </a:solidFill>
              </a:rPr>
              <a:t>📌  Example: Storing customer or employee records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074920"/>
            <a:ext cx="5120640" cy="640080"/>
          </a:xfrm>
          <a:prstGeom prst="rect">
            <a:avLst/>
          </a:prstGeom>
          <a:solidFill>
            <a:srgbClr val="80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3892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143C"/>
                </a:solidFill>
              </a:rPr>
              <a:t>💡  RDS = Relational / SQL  (structured tables)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371600"/>
            <a:ext cx="5394960" cy="4572000"/>
          </a:xfrm>
          <a:prstGeom prst="rect">
            <a:avLst/>
          </a:prstGeom>
          <a:solidFill>
            <a:srgbClr val="1A0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508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B2CBF"/>
                </a:solidFill>
              </a:rPr>
              <a:t>🔑  DynamoDB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Fully Managed NoSQL Database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2423160"/>
            <a:ext cx="73152" cy="3200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423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Fully managed NoSQL database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2880360"/>
            <a:ext cx="73152" cy="3200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880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Fast and flexible data access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3337560"/>
            <a:ext cx="73152" cy="3200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337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Automatically scales with demand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3794760"/>
            <a:ext cx="73152" cy="320040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794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Ultra-low latency for high-traffic apps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4343400"/>
            <a:ext cx="5120640" cy="594360"/>
          </a:xfrm>
          <a:prstGeom prst="rect">
            <a:avLst/>
          </a:prstGeom>
          <a:solidFill>
            <a:srgbClr val="401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4074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B2CBF"/>
                </a:solidFill>
              </a:rPr>
              <a:t>📌  Example: Gaming apps, shopping carts, high-traffic apps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5074920"/>
            <a:ext cx="5120640" cy="640080"/>
          </a:xfrm>
          <a:prstGeom prst="rect">
            <a:avLst/>
          </a:prstGeom>
          <a:solidFill>
            <a:srgbClr val="550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513892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CBF"/>
                </a:solidFill>
              </a:rPr>
              <a:t>💡  DynamoDB = NoSQL  (flexible, key-value, ultra-fast)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Networking: VPC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Virtual Private Cloud — Your Private Network on AWS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417320"/>
            <a:ext cx="2103120" cy="4572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🌐  Internet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20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88E5"/>
                </a:solidFill>
              </a:rPr>
              <a:t>         ↓           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148840"/>
            <a:ext cx="2651760" cy="457200"/>
          </a:xfrm>
          <a:prstGeom prst="rect">
            <a:avLst/>
          </a:prstGeom>
          <a:solidFill>
            <a:srgbClr val="15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194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2BE"/>
                </a:solidFill>
              </a:rPr>
              <a:t>🔗  Internet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651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88E5"/>
                </a:solidFill>
              </a:rPr>
              <a:t>         ↓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926080"/>
            <a:ext cx="9418320" cy="2377440"/>
          </a:xfrm>
          <a:prstGeom prst="rect">
            <a:avLst/>
          </a:prstGeom>
          <a:solidFill>
            <a:srgbClr val="0A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3017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88E5"/>
                </a:solidFill>
              </a:rPr>
              <a:t>🛡️  VPC — Virtual Private Cloud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926080"/>
            <a:ext cx="941832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54480" y="3474720"/>
            <a:ext cx="4114800" cy="1645920"/>
          </a:xfrm>
          <a:prstGeom prst="rect">
            <a:avLst/>
          </a:prstGeom>
          <a:solidFill>
            <a:srgbClr val="12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352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2BE"/>
                </a:solidFill>
              </a:rPr>
              <a:t>Public Subnet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40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💻 EC2 Instance
(Web Server)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3474720"/>
            <a:ext cx="4114800" cy="1645920"/>
          </a:xfrm>
          <a:prstGeom prst="rect">
            <a:avLst/>
          </a:prstGeom>
          <a:solidFill>
            <a:srgbClr val="1A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52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CBF"/>
                </a:solidFill>
              </a:rPr>
              <a:t>Private Subnet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840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🛢️  Database
(RDS / DynamoDB)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</a:rPr>
              <a:t>🔹 Subnets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13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Divide the network into smaller sections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593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</a:rPr>
              <a:t>🔹 Route Tables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60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Control where traffic goes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068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</a:rPr>
              <a:t>🔹 Security Groups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079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Firewall — control traffic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692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AA"/>
                </a:solidFill>
              </a:rPr>
              <a:t>🎤 Say:  "VPC is like our own private network in the AWS cloud. It allows us to control how our resources communicate with each other and with the internet."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Networking: Route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DNS &amp; Domain Management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120640" cy="4572000"/>
          </a:xfrm>
          <a:prstGeom prst="rect">
            <a:avLst/>
          </a:prstGeom>
          <a:solidFill>
            <a:srgbClr val="33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107"/>
                </a:solidFill>
              </a:rPr>
              <a:t>📖  Main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457200" cy="411480"/>
          </a:xfrm>
          <a:prstGeom prst="rect">
            <a:avLst/>
          </a:prstGeom>
          <a:solidFill>
            <a:srgbClr val="55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3055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Converts domain names → IP addresses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51760"/>
            <a:ext cx="457200" cy="411480"/>
          </a:xfrm>
          <a:prstGeom prst="rect">
            <a:avLst/>
          </a:prstGeom>
          <a:solidFill>
            <a:srgbClr val="55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51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2491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Registers &amp; manages domain names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46120"/>
            <a:ext cx="457200" cy="411480"/>
          </a:xfrm>
          <a:prstGeom prst="rect">
            <a:avLst/>
          </a:prstGeom>
          <a:solidFill>
            <a:srgbClr val="55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461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1927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Routes users to your applications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40480"/>
            <a:ext cx="457200" cy="411480"/>
          </a:xfrm>
          <a:prstGeom prst="rect">
            <a:avLst/>
          </a:prstGeom>
          <a:solidFill>
            <a:srgbClr val="55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404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❤️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91363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Health checking &amp; traffic routing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371600"/>
            <a:ext cx="5943600" cy="2926080"/>
          </a:xfrm>
          <a:prstGeom prst="rect">
            <a:avLst/>
          </a:prstGeom>
          <a:solidFill>
            <a:srgbClr val="33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107"/>
                </a:solidFill>
              </a:rPr>
              <a:t>🔀  How It Works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057400"/>
            <a:ext cx="365760" cy="3657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057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1B2F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User types: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331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www.mywebsite.com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107"/>
                </a:solidFill>
              </a:rPr>
              <a:t>       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697480"/>
            <a:ext cx="365760" cy="36576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1B2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743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Route 53 looks up: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the real IP address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081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2BE"/>
                </a:solidFill>
              </a:rPr>
              <a:t>       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3337560"/>
            <a:ext cx="365760" cy="365760"/>
          </a:xfrm>
          <a:prstGeom prst="rect">
            <a:avLst/>
          </a:prstGeom>
          <a:solidFill>
            <a:srgbClr val="00B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1B2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3832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Routes user to: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611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the AWS Application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4480560"/>
            <a:ext cx="5943600" cy="1371600"/>
          </a:xfrm>
          <a:prstGeom prst="rect">
            <a:avLst/>
          </a:prstGeom>
          <a:solidFill>
            <a:srgbClr val="44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107"/>
                </a:solidFill>
              </a:rPr>
              <a:t>💡  Why Route 53?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8920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Users remember names, not numbers.
Instead of:  54.123.45.67
They type:   www.mywebsite.com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AA"/>
                </a:solidFill>
              </a:rPr>
              <a:t>🎤 Say:  "Route 53 works like the internet's phonebook. It helps users reach our application using a domain name instead of an IP address."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How AWS Services 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9900"/>
                </a:solidFill>
              </a:rPr>
              <a:t>Building an Online Shopping Website 🛒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280160"/>
            <a:ext cx="2651760" cy="457200"/>
          </a:xfrm>
          <a:prstGeom prst="rect">
            <a:avLst/>
          </a:prstGeom>
          <a:solidFill>
            <a:srgbClr val="55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325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107"/>
                </a:solidFill>
              </a:rPr>
              <a:t>📖  Route 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7830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     ↓      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103120"/>
            <a:ext cx="9418320" cy="3474720"/>
          </a:xfrm>
          <a:prstGeom prst="rect">
            <a:avLst/>
          </a:prstGeom>
          <a:solidFill>
            <a:srgbClr val="0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2103120"/>
            <a:ext cx="9418320" cy="640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1762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8E5"/>
                </a:solidFill>
              </a:rPr>
              <a:t>🌐  VPC — Virtual Private 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606040"/>
            <a:ext cx="2560320" cy="1188720"/>
          </a:xfrm>
          <a:prstGeom prst="rect">
            <a:avLst/>
          </a:prstGeom>
          <a:solidFill>
            <a:srgbClr val="0D4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2697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CE5"/>
                </a:solidFill>
              </a:rPr>
              <a:t>💻  EC2
Web 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977639"/>
            <a:ext cx="2560320" cy="100584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4069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B2CBF"/>
                </a:solidFill>
              </a:rPr>
              <a:t>⚡  Lambda
Image Processor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606040"/>
            <a:ext cx="2560320" cy="2377440"/>
          </a:xfrm>
          <a:prstGeom prst="rect">
            <a:avLst/>
          </a:prstGeom>
          <a:solidFill>
            <a:srgbClr val="0A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2BE"/>
                </a:solidFill>
              </a:rPr>
              <a:t>📦  S3
Product Images
&amp; Assets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606040"/>
            <a:ext cx="2560320" cy="1188720"/>
          </a:xfrm>
          <a:prstGeom prst="rect">
            <a:avLst/>
          </a:prstGeom>
          <a:solidFill>
            <a:srgbClr val="3D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143C"/>
                </a:solidFill>
              </a:rPr>
              <a:t>🏛️  RDS
Orders &amp;
Customers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3977639"/>
            <a:ext cx="2560320" cy="1005840"/>
          </a:xfrm>
          <a:prstGeom prst="rect">
            <a:avLst/>
          </a:prstGeom>
          <a:solidFill>
            <a:srgbClr val="1A0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069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2CBF"/>
                </a:solidFill>
              </a:rPr>
              <a:t>🔑  DynamoDB
Shopping Cart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023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CCCC"/>
                </a:solidFill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CCCC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760720"/>
            <a:ext cx="11430000" cy="86868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833872"/>
            <a:ext cx="27660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☁️ Route 53  →  Directs user to the website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0420" y="5833872"/>
            <a:ext cx="27660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🌐 VPC  →  Secures the entire 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833872"/>
            <a:ext cx="27660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💻 EC2  →  Runs the web server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5420" y="5833872"/>
            <a:ext cx="27660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⚡ Lambda  →  Auto-processes uploaded images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217920"/>
            <a:ext cx="27660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🗄️ S3  →  Stores product images &amp; assets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0420" y="6217920"/>
            <a:ext cx="27660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🏛️ RDS  →  Manages orders &amp; customer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6217920"/>
            <a:ext cx="27660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🔑 DynamoDB  →  Handles shopping cart &amp; sessions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Summary &amp;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2697480" cy="1417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05840"/>
            <a:ext cx="2697480" cy="73152"/>
          </a:xfrm>
          <a:prstGeom prst="rect">
            <a:avLst/>
          </a:prstGeom>
          <a:solidFill>
            <a:srgbClr val="00B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CE5"/>
                </a:solidFill>
              </a:rPr>
              <a:t>💻  EC2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Virtual servers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1051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AA"/>
                </a:solidFill>
              </a:rPr>
              <a:t>when: Full control over OS &amp; config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005840"/>
            <a:ext cx="2697480" cy="1417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0" y="1005840"/>
            <a:ext cx="2697480" cy="73152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1155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B2CBF"/>
                </a:solidFill>
              </a:rPr>
              <a:t>⚡  Lambda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5087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Serverless 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81051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AA"/>
                </a:solidFill>
              </a:rPr>
              <a:t>when: Event-driven, auto-scaling tasks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005840"/>
            <a:ext cx="2697480" cy="1417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06440" y="1005840"/>
            <a:ext cx="2697480" cy="7315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1155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2BE"/>
                </a:solidFill>
              </a:rPr>
              <a:t>📦  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5087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Object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181051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AA"/>
                </a:solidFill>
              </a:rPr>
              <a:t>when: Files, images, backups, static sites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1005840"/>
            <a:ext cx="2697480" cy="1417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1005840"/>
            <a:ext cx="269748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1155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9900"/>
                </a:solidFill>
              </a:rPr>
              <a:t>💾  EBS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15087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Block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181051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AA"/>
                </a:solidFill>
              </a:rPr>
              <a:t>when: Persistent disks for EC2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606040"/>
            <a:ext cx="2697480" cy="1417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2606040"/>
            <a:ext cx="2697480" cy="73152"/>
          </a:xfrm>
          <a:prstGeom prst="rect">
            <a:avLst/>
          </a:prstGeom>
          <a:solidFill>
            <a:srgbClr val="E8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7157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143C"/>
                </a:solidFill>
              </a:rPr>
              <a:t>🏛️  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1089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SQL 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41071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AA"/>
                </a:solidFill>
              </a:rPr>
              <a:t>when: Structured, relational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2606040"/>
            <a:ext cx="2697480" cy="1417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08960" y="2606040"/>
            <a:ext cx="2697480" cy="73152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27157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B2CBF"/>
                </a:solidFill>
              </a:rPr>
              <a:t>🔑  DynamoDB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31089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NoSQL Database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341071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AA"/>
                </a:solidFill>
              </a:rPr>
              <a:t>when: Fast, flexible, high-scale 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06440" y="2606040"/>
            <a:ext cx="269748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7880" y="27157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88E5"/>
                </a:solidFill>
              </a:rPr>
              <a:t>🌐  VPC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31089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Private network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341071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AA"/>
                </a:solidFill>
              </a:rPr>
              <a:t>when: Isolated, secure cloud network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2606040"/>
            <a:ext cx="2697480" cy="1417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2606040"/>
            <a:ext cx="2697480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27157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107"/>
                </a:solidFill>
              </a:rPr>
              <a:t>📖  Route 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31089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DNS Service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341071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AA"/>
                </a:solidFill>
              </a:rPr>
              <a:t>when: Domain names &amp; traffic routing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0749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CCCC"/>
                </a:solidFill>
              </a:rPr>
              <a:t>These eight AWS services form the backbone of modern cloud applications. With AWS, you focus on building — and AWS handles the infrastructure.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8978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Thank You!  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63550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AA"/>
                </a:solidFill>
              </a:rPr>
              <a:t>☁️  Built on AWS  |  Questions?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